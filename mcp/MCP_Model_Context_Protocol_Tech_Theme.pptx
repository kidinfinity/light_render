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大模型上下文来源割裂</a:t>
            </a:r>
            <a:r>
              <a:rPr lang="zh-CN">
                <a:sym typeface="+mn-ea"/>
              </a:rPr>
              <a:t>：</a:t>
            </a:r>
            <a:endParaRPr>
              <a:sym typeface="+mn-ea"/>
            </a:endParaRPr>
          </a:p>
          <a:p>
            <a:r>
              <a:rPr lang="zh-CN" altLang="en-US"/>
              <a:t>一个公司做内部 ChatGPT，信息分散在：Confluence（制度文档）Notion（产品需求）GitHub（代码）数据库（用户数据）Slack（讨论结论）</a:t>
            </a:r>
            <a:endParaRPr lang="zh-CN" altLang="en-US"/>
          </a:p>
          <a:p>
            <a:r>
              <a:rPr lang="zh-CN" altLang="en-US"/>
              <a:t>结果：HR 问“试用期多久？” → 模型查的是旧 Confluence；PM 问“这个需求定了吗？” → 模型不知道 Slack 里已经改过；工程师问“这个接口怎么用？” → 模型上下文里没有代码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工具与数据接入方式不统一——“每接一个工具都像写新系统”</a:t>
            </a:r>
            <a:endParaRPr lang="zh-CN" altLang="en-US"/>
          </a:p>
          <a:p>
            <a:r>
              <a:rPr lang="zh-CN" altLang="en-US"/>
              <a:t>❌ 问题是每个工具：接口风格不同、参数格式不同、返回结构不同、错误处理方式不同</a:t>
            </a:r>
            <a:endParaRPr lang="zh-CN" altLang="en-US"/>
          </a:p>
          <a:p>
            <a:endParaRPr lang="zh-CN" altLang="en-US"/>
          </a:p>
          <a:p>
            <a:pPr marL="0" lvl="1"/>
            <a:r>
              <a:rPr>
                <a:sym typeface="+mn-ea"/>
              </a:rPr>
              <a:t>Prompt 强耦合、难维护</a:t>
            </a:r>
            <a:endParaRPr>
              <a:sym typeface="+mn-ea"/>
            </a:endParaRPr>
          </a:p>
          <a:p>
            <a:r>
              <a:rPr lang="zh-CN" altLang="en-US"/>
              <a:t>问题是Prompt 里同时承担了：业务逻辑、流程控制、错误处理、数据映射、输出规范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没有</a:t>
            </a:r>
            <a:r>
              <a:rPr lang="en-US" altLang="zh-CN"/>
              <a:t>MCP</a:t>
            </a:r>
            <a:r>
              <a:rPr lang="zh-CN" altLang="en-US"/>
              <a:t>，</a:t>
            </a:r>
            <a:r>
              <a:rPr lang="en-US" altLang="zh-CN"/>
              <a:t>prompt</a:t>
            </a:r>
            <a:r>
              <a:rPr lang="zh-CN" altLang="en-US"/>
              <a:t>相当于一次性</a:t>
            </a:r>
            <a:r>
              <a:rPr lang="zh-CN" altLang="en-US"/>
              <a:t>耗材</a:t>
            </a:r>
            <a:endParaRPr lang="zh-CN" altLang="en-US"/>
          </a:p>
          <a:p>
            <a:r>
              <a:rPr lang="en-US" altLang="zh-CN"/>
              <a:t>MCP</a:t>
            </a:r>
            <a:r>
              <a:rPr lang="zh-CN" altLang="en-US"/>
              <a:t>中，文档是上下文、数据库结果是上下文、工具能力本身也是上下文、用户状态 / 会话状态也是上下文</a:t>
            </a:r>
            <a:endParaRPr lang="zh-CN" altLang="en-US"/>
          </a:p>
          <a:p>
            <a:r>
              <a:rPr lang="zh-CN" altLang="en-US"/>
              <a:t>而且它们是：可声明的、可发现的、可组合的、可复用的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0" lvl="1"/>
            <a:r>
              <a:rPr>
                <a:sym typeface="+mn-ea"/>
              </a:rPr>
              <a:t>上下文可发现、可枚举</a:t>
            </a:r>
            <a:r>
              <a:rPr lang="zh-CN">
                <a:sym typeface="+mn-ea"/>
              </a:rPr>
              <a:t>：</a:t>
            </a:r>
            <a:r>
              <a:rPr lang="en-US" altLang="zh-CN">
                <a:sym typeface="+mn-ea"/>
              </a:rPr>
              <a:t>agent</a:t>
            </a:r>
            <a:r>
              <a:rPr lang="zh-CN" altLang="en-US">
                <a:sym typeface="+mn-ea"/>
              </a:rPr>
              <a:t>可以知道并列举出有哪些</a:t>
            </a:r>
            <a:r>
              <a:rPr lang="en-US" altLang="zh-CN">
                <a:sym typeface="+mn-ea"/>
              </a:rPr>
              <a:t>context</a:t>
            </a:r>
            <a:r>
              <a:rPr lang="zh-CN" altLang="en-US">
                <a:sym typeface="+mn-ea"/>
              </a:rPr>
              <a:t>（可以做什么，</a:t>
            </a:r>
            <a:r>
              <a:rPr lang="en-US" altLang="zh-CN">
                <a:sym typeface="+mn-ea"/>
              </a:rPr>
              <a:t>llm</a:t>
            </a:r>
            <a:r>
              <a:rPr lang="zh-CN" altLang="en-US">
                <a:sym typeface="+mn-ea"/>
              </a:rPr>
              <a:t>相当于大脑，</a:t>
            </a:r>
            <a:r>
              <a:rPr lang="en-US" altLang="zh-CN">
                <a:sym typeface="+mn-ea"/>
              </a:rPr>
              <a:t>agent</a:t>
            </a:r>
            <a:r>
              <a:rPr lang="zh-CN" altLang="en-US">
                <a:sym typeface="+mn-ea"/>
              </a:rPr>
              <a:t>在上一层</a:t>
            </a:r>
            <a:r>
              <a:rPr lang="zh-CN" altLang="en-US">
                <a:sym typeface="+mn-ea"/>
              </a:rPr>
              <a:t>可以）</a:t>
            </a:r>
            <a:endParaRPr lang="zh-CN" altLang="en-US">
              <a:sym typeface="+mn-ea"/>
            </a:endParaRPr>
          </a:p>
          <a:p>
            <a:pPr marL="0" lvl="1"/>
            <a:r>
              <a:rPr lang="en-US" altLang="zh-CN">
                <a:sym typeface="+mn-ea"/>
              </a:rPr>
              <a:t>example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before</a:t>
            </a:r>
            <a:r>
              <a:rPr lang="zh-CN" altLang="en-US">
                <a:sym typeface="+mn-ea"/>
              </a:rPr>
              <a:t>：你是一个数据分析助手。当需要销售数据时，请调用 ClickHouse，SQL 如下……字段解释如下……如果失败再调用 API……，从 prompt 里找怎么用工具；</a:t>
            </a:r>
            <a:r>
              <a:rPr lang="en-US" altLang="zh-CN">
                <a:sym typeface="+mn-ea"/>
              </a:rPr>
              <a:t> after</a:t>
            </a:r>
            <a:r>
              <a:rPr lang="zh-CN" altLang="en-US">
                <a:sym typeface="+mn-ea"/>
              </a:rPr>
              <a:t>：分析本季度销售趋势并给出结论，知道我有哪些 Context 能力。</a:t>
            </a:r>
            <a:endParaRPr lang="zh-CN" altLang="en-US">
              <a:sym typeface="+mn-ea"/>
            </a:endParaRPr>
          </a:p>
          <a:p>
            <a:pPr marL="0" lvl="1"/>
            <a:r>
              <a:rPr lang="zh-CN" altLang="en-US">
                <a:sym typeface="+mn-ea"/>
              </a:rPr>
              <a:t>把一些步骤交给</a:t>
            </a:r>
            <a:r>
              <a:rPr lang="en-US" altLang="zh-CN">
                <a:sym typeface="+mn-ea"/>
              </a:rPr>
              <a:t>agent</a:t>
            </a:r>
            <a:r>
              <a:rPr lang="zh-CN" altLang="en-US">
                <a:sym typeface="+mn-ea"/>
              </a:rPr>
              <a:t>做</a:t>
            </a:r>
            <a:endParaRPr lang="zh-CN" altLang="en-US">
              <a:sym typeface="+mn-ea"/>
            </a:endParaRPr>
          </a:p>
          <a:p>
            <a:pPr marL="0" lvl="1"/>
            <a:r>
              <a:rPr lang="zh-CN" altLang="en-US">
                <a:sym typeface="+mn-ea"/>
              </a:rPr>
              <a:t>总结：可扩展性</a:t>
            </a:r>
            <a:r>
              <a:rPr lang="zh-CN" altLang="en-US">
                <a:sym typeface="+mn-ea"/>
              </a:rPr>
              <a:t>更强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MCP 明确分三层：</a:t>
            </a:r>
            <a:endParaRPr lang="zh-CN" altLang="en-US"/>
          </a:p>
          <a:p>
            <a:r>
              <a:rPr lang="zh-CN" altLang="en-US"/>
              <a:t>角色	职责一句话</a:t>
            </a:r>
            <a:endParaRPr lang="zh-CN" altLang="en-US"/>
          </a:p>
          <a:p>
            <a:r>
              <a:rPr lang="zh-CN" altLang="en-US"/>
              <a:t>Host	承载大模型、管理会话、调度上下文</a:t>
            </a:r>
            <a:endParaRPr lang="zh-CN" altLang="en-US"/>
          </a:p>
          <a:p>
            <a:r>
              <a:rPr lang="zh-CN" altLang="en-US"/>
              <a:t>Client	负责协议通信（JSON-RPC / stdio / HTTP）</a:t>
            </a:r>
            <a:endParaRPr lang="zh-CN" altLang="en-US"/>
          </a:p>
          <a:p>
            <a:r>
              <a:rPr lang="zh-CN" altLang="en-US"/>
              <a:t>Server	提供具体「上下文能力」（工具、资源、查询）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Prompts = 告诉模型“你要怎么想”（Prompt 是 Agent 的“工作说明书”）</a:t>
            </a:r>
            <a:endParaRPr lang="zh-CN" altLang="en-US"/>
          </a:p>
          <a:p>
            <a:r>
              <a:rPr lang="zh-CN" altLang="en-US"/>
              <a:t>Resources = 告诉模型“你能读什么”（Resource 是一种 Context（Read-only Context））</a:t>
            </a:r>
            <a:endParaRPr lang="zh-CN" altLang="en-US"/>
          </a:p>
          <a:p>
            <a:r>
              <a:rPr lang="zh-CN" altLang="en-US"/>
              <a:t>Tools = 让模型“真的去做事”（Tool 通常由 MCP Server 提供）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>
                <a:sym typeface="+mn-ea"/>
              </a:rPr>
              <a:t>识别上下文来源</a:t>
            </a:r>
            <a:r>
              <a:rPr lang="zh-CN">
                <a:sym typeface="+mn-ea"/>
              </a:rPr>
              <a:t>（为了回答这个问题，现实世界里‘哪些东西’是关键？）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抽象为 Tool / Resource / Prompt</a:t>
            </a:r>
            <a:r>
              <a:rPr lang="zh-CN">
                <a:sym typeface="+mn-ea"/>
              </a:rPr>
              <a:t>（“这些来源，应该以什么‘形式’给模型？”）</a:t>
            </a:r>
            <a:endParaRPr lang="zh-CN">
              <a:sym typeface="+mn-ea"/>
            </a:endParaRPr>
          </a:p>
          <a:p>
            <a:r>
              <a:rPr>
                <a:sym typeface="+mn-ea"/>
              </a:rPr>
              <a:t>定义 Schema</a:t>
            </a:r>
            <a:r>
              <a:rPr lang="zh-CN">
                <a:sym typeface="+mn-ea"/>
              </a:rPr>
              <a:t>（“销售数据，模型到底能看到什么结构？”）</a:t>
            </a:r>
            <a:endParaRPr lang="zh-CN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MCP（Model Context Protocol）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E2E8F0"/>
                </a:solidFill>
              </a:defRPr>
            </a:pPr>
            <a:r>
              <a:t>模型与外部上下文的统一协议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技术分享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背景与动机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大模型上下文来源割裂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工具与数据接入方式不统一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Prompt 强耦合、难维护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Agent 缺乏标准化协议</a:t>
            </a:r>
          </a:p>
          <a:p>
            <a:pPr marL="457200" lvl="1" indent="0">
              <a:buNone/>
              <a:defRPr sz="1800">
                <a:solidFill>
                  <a:srgbClr val="E2E8F0"/>
                </a:solidFill>
              </a:defRPr>
            </a:pPr>
            <a:endParaRPr lang="zh-CN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23645" y="3019425"/>
            <a:ext cx="2675255" cy="2575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什么是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Model Context Protocol（模型上下文协议）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标准化模型与外部工具 / 数据交互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把上下文作为一等公民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类比：LLM 的 USB-C 接口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16940" y="3233420"/>
            <a:ext cx="5140325" cy="2893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MCP 解决的问题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统一工具与数据接入方式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上下文可发现、可枚举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Prompt 与上下文解耦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提升 Agent 扩展性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89660" y="3110865"/>
            <a:ext cx="5327015" cy="3089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MCP 核心角色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Host：运行模型的应用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Client：协议客户端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MCP Server：提供能力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Model：大语言模型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8850" y="3057525"/>
            <a:ext cx="4948555" cy="34994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三类核心能力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Tools：可调用的函数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Resources：模型可读取的数据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Prompts：可复用提示模板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11530" y="2999105"/>
            <a:ext cx="5327015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MCP 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标准化、可组合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上下文可发现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安全隔离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高度可复用</a:t>
            </a:r>
          </a:p>
        </p:txBody>
      </p:sp>
      <p:pic>
        <p:nvPicPr>
          <p:cNvPr id="5" name="图片 4" descr="mcp-only--1-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55" y="3129280"/>
            <a:ext cx="4963795" cy="2859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基本用法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实现 MCP Server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注册到 Host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模型自动选择并调用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67410" y="3031490"/>
            <a:ext cx="5502275" cy="3094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实践流程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识别上下文来源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抽象为 Tool / Resource / Prompt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定义 Schema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最小权限暴露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持续观察与优化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8365" y="3342640"/>
            <a:ext cx="4259580" cy="2207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优势（Pros）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降低 Prompt 复杂度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提高系统可维护性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插件化扩展</a:t>
            </a:r>
          </a:p>
          <a:p>
            <a:pPr>
              <a:defRPr sz="1800">
                <a:solidFill>
                  <a:srgbClr val="E2E8F0"/>
                </a:solidFill>
              </a:defRPr>
            </a:pPr>
            <a:r>
              <a:t>适合复杂 Agent 系统</a:t>
            </a:r>
          </a:p>
          <a:p>
            <a:pPr>
              <a:defRPr sz="1800">
                <a:solidFill>
                  <a:srgbClr val="E2E8F0"/>
                </a:solidFill>
              </a:defRPr>
            </a:p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17340" y="1600200"/>
            <a:ext cx="2562860" cy="2574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不足（Cons）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学习成本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依赖模型决策能力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调试复杂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生态仍在早期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适用场景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AI IDE / Copilot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企业内部 Agent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数据分析助手</a:t>
            </a:r>
          </a:p>
          <a:p>
            <a:pPr lvl="1">
              <a:defRPr sz="1800">
                <a:solidFill>
                  <a:srgbClr val="E2E8F0"/>
                </a:solidFill>
              </a:defRPr>
            </a:pPr>
            <a:r>
              <a:t>DevOps 自动化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WPS 演示</Application>
  <PresentationFormat>On-screen Show (4:3)</PresentationFormat>
  <Paragraphs>83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Helvetica Neue</vt:lpstr>
      <vt:lpstr>汉仪书宋二KW</vt:lpstr>
      <vt:lpstr>宋体</vt:lpstr>
      <vt:lpstr>微软雅黑</vt:lpstr>
      <vt:lpstr>汉仪旗黑</vt:lpstr>
      <vt:lpstr>Arial Unicode MS</vt:lpstr>
      <vt:lpstr>Apple Color Emoji</vt:lpstr>
      <vt:lpstr>Office Theme</vt:lpstr>
      <vt:lpstr>MCP（Model Context Protocol）</vt:lpstr>
      <vt:lpstr>背景与动机</vt:lpstr>
      <vt:lpstr>什么是 MCP</vt:lpstr>
      <vt:lpstr>MCP 解决的问题</vt:lpstr>
      <vt:lpstr>MCP 核心角色</vt:lpstr>
      <vt:lpstr>三类核心能力</vt:lpstr>
      <vt:lpstr>MCP 特点</vt:lpstr>
      <vt:lpstr>基本用法</vt:lpstr>
      <vt:lpstr>实践流程</vt:lpstr>
      <vt:lpstr>优势（Pros）</vt:lpstr>
      <vt:lpstr>不足（Cons）</vt:lpstr>
      <vt:lpstr>适用场景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infinity</cp:lastModifiedBy>
  <cp:revision>2</cp:revision>
  <dcterms:created xsi:type="dcterms:W3CDTF">2026-02-21T13:47:59Z</dcterms:created>
  <dcterms:modified xsi:type="dcterms:W3CDTF">2026-02-21T13:47:59Z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4E4D4A93A26587218FB799697C6121ED_42</vt:lpwstr>
  </property>
  <property fmtid="{D5CDD505-2E9C-101B-9397-08002B2CF9AE}" pid="3" name="KSOProductBuildVer">
    <vt:lpwstr>2052-6.5.2.8766</vt:lpwstr>
  </property>
</Properties>
</file>